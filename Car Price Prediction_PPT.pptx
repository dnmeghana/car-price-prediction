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48" r:id="rId1"/>
  </p:sldMasterIdLst>
  <p:notesMasterIdLst>
    <p:notesMasterId r:id="rId12"/>
  </p:notesMasterIdLst>
  <p:sldIdLst>
    <p:sldId id="256" r:id="rId2"/>
    <p:sldId id="257" r:id="rId3"/>
    <p:sldId id="274" r:id="rId4"/>
    <p:sldId id="280" r:id="rId5"/>
    <p:sldId id="281" r:id="rId6"/>
    <p:sldId id="282" r:id="rId7"/>
    <p:sldId id="283" r:id="rId8"/>
    <p:sldId id="284" r:id="rId9"/>
    <p:sldId id="285" r:id="rId10"/>
    <p:sldId id="286" r:id="rId11"/>
  </p:sldIdLst>
  <p:sldSz cx="12192000" cy="6858000"/>
  <p:notesSz cx="7010400" cy="9296400"/>
  <p:embeddedFontLst>
    <p:embeddedFont>
      <p:font typeface="Calibri" panose="020F0502020204030204" pitchFamily="34" charset="0"/>
      <p:regular r:id="rId13"/>
      <p:bold r:id="rId14"/>
      <p:italic r:id="rId15"/>
      <p:boldItalic r:id="rId16"/>
    </p:embeddedFont>
    <p:embeddedFont>
      <p:font typeface="Garamond" panose="02020404030301010803" pitchFamily="18" charset="0"/>
      <p:regular r:id="rId17"/>
      <p:bold r:id="rId18"/>
      <p:italic r:id="rId19"/>
    </p:embeddedFont>
    <p:embeddedFont>
      <p:font typeface="Trebuchet MS" panose="020B0603020202020204"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3707" autoAdjust="0"/>
  </p:normalViewPr>
  <p:slideViewPr>
    <p:cSldViewPr snapToGrid="0">
      <p:cViewPr varScale="1">
        <p:scale>
          <a:sx n="81" d="100"/>
          <a:sy n="81" d="100"/>
        </p:scale>
        <p:origin x="725"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0"/>
            <a:ext cx="3038648" cy="46513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0135" y="0"/>
            <a:ext cx="3038648" cy="46513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2" y="8829675"/>
            <a:ext cx="3038648" cy="4651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79" name="Google Shape;179;p1: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3: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3: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a:t>Provide a basic introduction of the project and also an overview of scope it entails.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US"/>
              <a:t>Set the context.</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187" name="Google Shape;187;p3:notes"/>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3: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3: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dirty="0"/>
              <a:t>Provide a basic introduction of the project and also an overview of scope it entails.</a:t>
            </a:r>
            <a:endParaRPr dirty="0"/>
          </a:p>
          <a:p>
            <a:pPr marL="0" lvl="0" indent="0" algn="l" rtl="0">
              <a:lnSpc>
                <a:spcPct val="100000"/>
              </a:lnSpc>
              <a:spcBef>
                <a:spcPts val="0"/>
              </a:spcBef>
              <a:spcAft>
                <a:spcPts val="0"/>
              </a:spcAft>
              <a:buClr>
                <a:schemeClr val="dk1"/>
              </a:buClr>
              <a:buSzPts val="1100"/>
              <a:buFont typeface="Arial"/>
              <a:buNone/>
            </a:pPr>
            <a:endParaRPr dirty="0"/>
          </a:p>
          <a:p>
            <a:pPr marL="0" lvl="0" indent="0" algn="l" rtl="0">
              <a:lnSpc>
                <a:spcPct val="100000"/>
              </a:lnSpc>
              <a:spcBef>
                <a:spcPts val="0"/>
              </a:spcBef>
              <a:spcAft>
                <a:spcPts val="0"/>
              </a:spcAft>
              <a:buClr>
                <a:schemeClr val="dk1"/>
              </a:buClr>
              <a:buSzPts val="1100"/>
              <a:buFont typeface="Arial"/>
              <a:buNone/>
            </a:pPr>
            <a:r>
              <a:rPr lang="en-US" dirty="0"/>
              <a:t>Set the context.</a:t>
            </a:r>
            <a:endParaRPr dirty="0"/>
          </a:p>
          <a:p>
            <a:pPr marL="0" lvl="0" indent="0" algn="l" rtl="0">
              <a:lnSpc>
                <a:spcPct val="100000"/>
              </a:lnSpc>
              <a:spcBef>
                <a:spcPts val="0"/>
              </a:spcBef>
              <a:spcAft>
                <a:spcPts val="0"/>
              </a:spcAft>
              <a:buClr>
                <a:schemeClr val="dk1"/>
              </a:buClr>
              <a:buSzPts val="1100"/>
              <a:buFont typeface="Arial"/>
              <a:buNone/>
            </a:pPr>
            <a:endParaRPr dirty="0"/>
          </a:p>
          <a:p>
            <a:pPr marL="0" lvl="0" indent="0" algn="l" rtl="0">
              <a:lnSpc>
                <a:spcPct val="100000"/>
              </a:lnSpc>
              <a:spcBef>
                <a:spcPts val="0"/>
              </a:spcBef>
              <a:spcAft>
                <a:spcPts val="0"/>
              </a:spcAft>
              <a:buSzPts val="1400"/>
              <a:buNone/>
            </a:pPr>
            <a:endParaRPr dirty="0"/>
          </a:p>
        </p:txBody>
      </p:sp>
      <p:sp>
        <p:nvSpPr>
          <p:cNvPr id="187" name="Google Shape;187;p3:notes"/>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1407323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0243DD1C-AFEB-437A-AC44-A01379B23642}"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488871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spTree>
    <p:extLst>
      <p:ext uri="{BB962C8B-B14F-4D97-AF65-F5344CB8AC3E}">
        <p14:creationId xmlns:p14="http://schemas.microsoft.com/office/powerpoint/2010/main" val="32998416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467677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69D974-F3CE-4243-BF44-C9F535BDC09E}" type="datetimeFigureOut">
              <a:rPr lang="en-US" smtClean="0"/>
              <a:t>25-Nov-22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43DD1C-AFEB-437A-AC44-A01379B23642}" type="slidenum">
              <a:rPr lang="en-US" smtClean="0"/>
              <a:t>‹#›</a:t>
            </a:fld>
            <a:endParaRPr lang="en-US"/>
          </a:p>
        </p:txBody>
      </p:sp>
    </p:spTree>
    <p:extLst>
      <p:ext uri="{BB962C8B-B14F-4D97-AF65-F5344CB8AC3E}">
        <p14:creationId xmlns:p14="http://schemas.microsoft.com/office/powerpoint/2010/main" val="288448613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69D974-F3CE-4243-BF44-C9F535BDC09E}" type="datetimeFigureOut">
              <a:rPr lang="en-US" smtClean="0"/>
              <a:t>25-Nov-22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43DD1C-AFEB-437A-AC44-A01379B23642}"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975170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469D974-F3CE-4243-BF44-C9F535BDC09E}" type="datetimeFigureOut">
              <a:rPr lang="en-US" smtClean="0"/>
              <a:t>25-Nov-22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43DD1C-AFEB-437A-AC44-A01379B2364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77131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69D974-F3CE-4243-BF44-C9F535BDC09E}" type="datetimeFigureOut">
              <a:rPr lang="en-US" smtClean="0"/>
              <a:t>25-Nov-22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43DD1C-AFEB-437A-AC44-A01379B23642}" type="slidenum">
              <a:rPr lang="en-US" smtClean="0"/>
              <a:t>‹#›</a:t>
            </a:fld>
            <a:endParaRPr lang="en-US"/>
          </a:p>
        </p:txBody>
      </p:sp>
    </p:spTree>
    <p:extLst>
      <p:ext uri="{BB962C8B-B14F-4D97-AF65-F5344CB8AC3E}">
        <p14:creationId xmlns:p14="http://schemas.microsoft.com/office/powerpoint/2010/main" val="1464395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69D974-F3CE-4243-BF44-C9F535BDC09E}" type="datetimeFigureOut">
              <a:rPr lang="en-US" smtClean="0"/>
              <a:t>25-Nov-22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43DD1C-AFEB-437A-AC44-A01379B23642}"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479830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69D974-F3CE-4243-BF44-C9F535BDC09E}" type="datetimeFigureOut">
              <a:rPr lang="en-US" smtClean="0"/>
              <a:t>25-Nov-22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43DD1C-AFEB-437A-AC44-A01379B23642}" type="slidenum">
              <a:rPr lang="en-US" smtClean="0"/>
              <a:t>‹#›</a:t>
            </a:fld>
            <a:endParaRPr lang="en-US"/>
          </a:p>
        </p:txBody>
      </p:sp>
    </p:spTree>
    <p:extLst>
      <p:ext uri="{BB962C8B-B14F-4D97-AF65-F5344CB8AC3E}">
        <p14:creationId xmlns:p14="http://schemas.microsoft.com/office/powerpoint/2010/main" val="13332016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69D974-F3CE-4243-BF44-C9F535BDC09E}" type="datetimeFigureOut">
              <a:rPr lang="en-US" smtClean="0"/>
              <a:t>25-Nov-22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43DD1C-AFEB-437A-AC44-A01379B23642}" type="slidenum">
              <a:rPr lang="en-US" smtClean="0"/>
              <a:t>‹#›</a:t>
            </a:fld>
            <a:endParaRPr lang="en-US"/>
          </a:p>
        </p:txBody>
      </p:sp>
    </p:spTree>
    <p:extLst>
      <p:ext uri="{BB962C8B-B14F-4D97-AF65-F5344CB8AC3E}">
        <p14:creationId xmlns:p14="http://schemas.microsoft.com/office/powerpoint/2010/main" val="96417943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70858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522724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spTree>
    <p:extLst>
      <p:ext uri="{BB962C8B-B14F-4D97-AF65-F5344CB8AC3E}">
        <p14:creationId xmlns:p14="http://schemas.microsoft.com/office/powerpoint/2010/main" val="379446015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353091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063853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4895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69D974-F3CE-4243-BF44-C9F535BDC09E}" type="datetimeFigureOut">
              <a:rPr lang="en-US" smtClean="0"/>
              <a:t>25-Nov-22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43DD1C-AFEB-437A-AC44-A01379B23642}"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069017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58"/>
        <p:cNvGrpSpPr/>
        <p:nvPr/>
      </p:nvGrpSpPr>
      <p:grpSpPr>
        <a:xfrm>
          <a:off x="0" y="0"/>
          <a:ext cx="0" cy="0"/>
          <a:chOff x="0" y="0"/>
          <a:chExt cx="0" cy="0"/>
        </a:xfrm>
      </p:grpSpPr>
      <p:sp>
        <p:nvSpPr>
          <p:cNvPr id="159" name="Google Shape;159;p3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160" name="Google Shape;160;p36"/>
          <p:cNvSpPr txBox="1">
            <a:spLocks noGrp="1"/>
          </p:cNvSpPr>
          <p:nvPr>
            <p:ph type="sldNum" idx="12"/>
          </p:nvPr>
        </p:nvSpPr>
        <p:spPr>
          <a:xfrm>
            <a:off x="11296610" y="6217622"/>
            <a:ext cx="731700" cy="5247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495589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469D974-F3CE-4243-BF44-C9F535BDC09E}" type="datetimeFigureOut">
              <a:rPr lang="en-US" smtClean="0"/>
              <a:t>25-Nov-22</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43DD1C-AFEB-437A-AC44-A01379B23642}" type="slidenum">
              <a:rPr lang="en-US" smtClean="0"/>
              <a:t>‹#›</a:t>
            </a:fld>
            <a:endParaRPr lang="en-US"/>
          </a:p>
        </p:txBody>
      </p:sp>
    </p:spTree>
    <p:extLst>
      <p:ext uri="{BB962C8B-B14F-4D97-AF65-F5344CB8AC3E}">
        <p14:creationId xmlns:p14="http://schemas.microsoft.com/office/powerpoint/2010/main" val="1311406144"/>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860" r:id="rId12"/>
    <p:sldLayoutId id="2147483861" r:id="rId13"/>
    <p:sldLayoutId id="2147483862" r:id="rId14"/>
    <p:sldLayoutId id="2147483863" r:id="rId15"/>
    <p:sldLayoutId id="2147483864" r:id="rId16"/>
    <p:sldLayoutId id="2147483865" r:id="rId17"/>
    <p:sldLayoutId id="2147483866" r:id="rId18"/>
  </p:sldLayoutIdLst>
  <mc:AlternateContent xmlns:mc="http://schemas.openxmlformats.org/markup-compatibility/2006" xmlns:p14="http://schemas.microsoft.com/office/powerpoint/2010/main">
    <mc:Choice Requires="p14">
      <p:transition spd="slow" p14:dur="2300">
        <p:push dir="r"/>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42"/>
          <p:cNvSpPr/>
          <p:nvPr/>
        </p:nvSpPr>
        <p:spPr>
          <a:xfrm>
            <a:off x="1623875" y="471425"/>
            <a:ext cx="8368500" cy="8595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800" dirty="0"/>
              <a:t>UE20CS302 – Machine Intelligence</a:t>
            </a:r>
            <a:endParaRPr sz="1800" dirty="0"/>
          </a:p>
          <a:p>
            <a:pPr marL="0" marR="0" lvl="0" indent="0" algn="ctr" rtl="0">
              <a:lnSpc>
                <a:spcPct val="100000"/>
              </a:lnSpc>
              <a:spcBef>
                <a:spcPts val="0"/>
              </a:spcBef>
              <a:spcAft>
                <a:spcPts val="0"/>
              </a:spcAft>
              <a:buNone/>
            </a:pPr>
            <a:endParaRPr sz="1800" dirty="0"/>
          </a:p>
          <a:p>
            <a:pPr marL="0" marR="0" lvl="0" indent="0" algn="ctr" rtl="0">
              <a:lnSpc>
                <a:spcPct val="100000"/>
              </a:lnSpc>
              <a:spcBef>
                <a:spcPts val="0"/>
              </a:spcBef>
              <a:spcAft>
                <a:spcPts val="0"/>
              </a:spcAft>
              <a:buClr>
                <a:srgbClr val="000000"/>
              </a:buClr>
              <a:buSzPts val="3200"/>
              <a:buFont typeface="Arial"/>
              <a:buNone/>
            </a:pPr>
            <a:r>
              <a:rPr lang="en-US" sz="1800" dirty="0"/>
              <a:t>Mini Project</a:t>
            </a:r>
            <a:endParaRPr sz="1800" dirty="0"/>
          </a:p>
        </p:txBody>
      </p:sp>
      <p:sp>
        <p:nvSpPr>
          <p:cNvPr id="182" name="Google Shape;182;p42"/>
          <p:cNvSpPr txBox="1"/>
          <p:nvPr/>
        </p:nvSpPr>
        <p:spPr>
          <a:xfrm>
            <a:off x="2620651" y="3545264"/>
            <a:ext cx="8236061" cy="14980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i="0" u="none" strike="noStrike" cap="none" dirty="0">
                <a:solidFill>
                  <a:schemeClr val="accent4"/>
                </a:solidFill>
                <a:latin typeface="Calibri"/>
                <a:ea typeface="Calibri"/>
                <a:cs typeface="Calibri"/>
                <a:sym typeface="Calibri"/>
              </a:rPr>
              <a:t>Project Title: Car Price Prediction</a:t>
            </a:r>
            <a:endParaRPr sz="2400" i="0" u="none" strike="noStrike" cap="none" dirty="0">
              <a:solidFill>
                <a:schemeClr val="accent4"/>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dirty="0">
                <a:solidFill>
                  <a:schemeClr val="accent4"/>
                </a:solidFill>
                <a:latin typeface="Calibri"/>
                <a:ea typeface="Calibri"/>
                <a:cs typeface="Calibri"/>
                <a:sym typeface="Calibri"/>
              </a:rPr>
              <a:t>Team No: 23</a:t>
            </a:r>
            <a:endParaRPr sz="2400" i="0" u="none" strike="noStrike" cap="none" dirty="0">
              <a:solidFill>
                <a:schemeClr val="accent4"/>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i="0" u="none" strike="noStrike" cap="none" dirty="0">
                <a:solidFill>
                  <a:schemeClr val="accent4"/>
                </a:solidFill>
                <a:latin typeface="Calibri"/>
                <a:ea typeface="Calibri"/>
                <a:cs typeface="Calibri"/>
                <a:sym typeface="Calibri"/>
              </a:rPr>
              <a:t>Project Guide: Dr . Gokul Kannan </a:t>
            </a:r>
            <a:r>
              <a:rPr lang="en-US" sz="2400" i="0" u="none" strike="noStrike" cap="none" dirty="0" err="1">
                <a:solidFill>
                  <a:schemeClr val="accent4"/>
                </a:solidFill>
                <a:latin typeface="Calibri"/>
                <a:ea typeface="Calibri"/>
                <a:cs typeface="Calibri"/>
                <a:sym typeface="Calibri"/>
              </a:rPr>
              <a:t>Sadasivam</a:t>
            </a:r>
            <a:endParaRPr sz="2400" i="0" u="none" strike="noStrike" cap="none" dirty="0">
              <a:solidFill>
                <a:schemeClr val="accent4"/>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i="0" u="none" strike="noStrike" cap="none" dirty="0">
                <a:solidFill>
                  <a:schemeClr val="accent4"/>
                </a:solidFill>
                <a:latin typeface="Calibri"/>
                <a:ea typeface="Calibri"/>
                <a:cs typeface="Calibri"/>
                <a:sym typeface="Calibri"/>
              </a:rPr>
              <a:t>Project Team </a:t>
            </a:r>
            <a:r>
              <a:rPr lang="en-US" sz="2400" dirty="0">
                <a:solidFill>
                  <a:schemeClr val="accent4"/>
                </a:solidFill>
                <a:latin typeface="Calibri"/>
                <a:ea typeface="Calibri"/>
                <a:cs typeface="Calibri"/>
                <a:sym typeface="Calibri"/>
              </a:rPr>
              <a:t>with SRNs: MEGHANA  N– PES2UG20CS519</a:t>
            </a:r>
          </a:p>
          <a:p>
            <a:pPr marL="0" marR="0" lvl="0" indent="0" algn="l" rtl="0">
              <a:lnSpc>
                <a:spcPct val="100000"/>
              </a:lnSpc>
              <a:spcBef>
                <a:spcPts val="0"/>
              </a:spcBef>
              <a:spcAft>
                <a:spcPts val="0"/>
              </a:spcAft>
              <a:buClr>
                <a:srgbClr val="000000"/>
              </a:buClr>
              <a:buSzPts val="2400"/>
              <a:buFont typeface="Arial"/>
              <a:buNone/>
            </a:pPr>
            <a:r>
              <a:rPr lang="en-US" sz="2400" i="0" u="none" strike="noStrike" cap="none" dirty="0">
                <a:solidFill>
                  <a:schemeClr val="accent4"/>
                </a:solidFill>
                <a:latin typeface="Calibri"/>
                <a:ea typeface="Calibri"/>
                <a:cs typeface="Calibri"/>
                <a:sym typeface="Calibri"/>
              </a:rPr>
              <a:t>			</a:t>
            </a:r>
            <a:r>
              <a:rPr lang="en-US" sz="2400" dirty="0">
                <a:solidFill>
                  <a:schemeClr val="accent4"/>
                </a:solidFill>
                <a:latin typeface="Calibri"/>
                <a:ea typeface="Calibri"/>
                <a:cs typeface="Calibri"/>
                <a:sym typeface="Calibri"/>
              </a:rPr>
              <a:t>    	                  SUSHMITHA– PES2UG20CS472</a:t>
            </a:r>
            <a:endParaRPr sz="2400" i="0" u="none" strike="noStrike" cap="none" dirty="0">
              <a:solidFill>
                <a:schemeClr val="accent4"/>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i="0" u="none" strike="noStrike" cap="none" dirty="0">
              <a:solidFill>
                <a:srgbClr val="FFD966"/>
              </a:solidFill>
              <a:latin typeface="Calibri"/>
              <a:ea typeface="Calibri"/>
              <a:cs typeface="Calibri"/>
              <a:sym typeface="Calibri"/>
            </a:endParaRPr>
          </a:p>
        </p:txBody>
      </p:sp>
      <p:sp>
        <p:nvSpPr>
          <p:cNvPr id="183" name="Google Shape;183;p42"/>
          <p:cNvSpPr txBox="1">
            <a:spLocks noGrp="1"/>
          </p:cNvSpPr>
          <p:nvPr>
            <p:ph type="ctrTitle"/>
          </p:nvPr>
        </p:nvSpPr>
        <p:spPr>
          <a:xfrm>
            <a:off x="1974275" y="2600125"/>
            <a:ext cx="7667700" cy="8595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sz="4400" dirty="0"/>
              <a:t>Car Price Prediction</a:t>
            </a:r>
            <a:endParaRPr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3"/>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0" name="Google Shape;190;p43"/>
          <p:cNvSpPr txBox="1"/>
          <p:nvPr/>
        </p:nvSpPr>
        <p:spPr>
          <a:xfrm>
            <a:off x="1159496" y="2209800"/>
            <a:ext cx="9508503" cy="41910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200"/>
              <a:buFont typeface="Arial"/>
              <a:buNone/>
            </a:pPr>
            <a:endParaRPr lang="en-US" sz="1800" b="0" i="0" u="none" strike="noStrike" cap="none" dirty="0">
              <a:solidFill>
                <a:schemeClr val="accent4"/>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200"/>
              <a:buFont typeface="Arial"/>
              <a:buNone/>
            </a:pPr>
            <a:endParaRPr lang="en-US" sz="1800" dirty="0">
              <a:solidFill>
                <a:schemeClr val="accent4"/>
              </a:solidFill>
              <a:latin typeface="Calibri"/>
              <a:ea typeface="Calibri"/>
              <a:cs typeface="Calibri"/>
              <a:sym typeface="Calibri"/>
            </a:endParaRPr>
          </a:p>
          <a:p>
            <a:pPr marL="0" marR="0" lvl="0" indent="0" rtl="0">
              <a:lnSpc>
                <a:spcPct val="100000"/>
              </a:lnSpc>
              <a:spcBef>
                <a:spcPts val="0"/>
              </a:spcBef>
              <a:spcAft>
                <a:spcPts val="0"/>
              </a:spcAft>
              <a:buClr>
                <a:schemeClr val="dk1"/>
              </a:buClr>
              <a:buSzPts val="2200"/>
              <a:buFont typeface="Arial"/>
              <a:buNone/>
            </a:pPr>
            <a:r>
              <a:rPr lang="en-US" sz="2400" dirty="0">
                <a:solidFill>
                  <a:schemeClr val="accent4"/>
                </a:solidFill>
                <a:latin typeface="Calibri"/>
                <a:ea typeface="Calibri"/>
                <a:cs typeface="Calibri"/>
                <a:sym typeface="Calibri"/>
              </a:rPr>
              <a:t>The focus of this project is developing a machine learning model using python that can accurately predict the price of used car based on the dataset features like brand, year, sold price, present price, KMS driven, fuel type, transmission type and owners, in order to make informed purchases. This project is built on Linear and Lasso Regression model.</a:t>
            </a:r>
            <a:endParaRPr sz="2400" b="0" i="0" u="none" strike="noStrike" cap="none" dirty="0">
              <a:solidFill>
                <a:schemeClr val="accent4"/>
              </a:solidFill>
              <a:latin typeface="Calibri"/>
              <a:ea typeface="Calibri"/>
              <a:cs typeface="Calibri"/>
              <a:sym typeface="Calibri"/>
            </a:endParaRPr>
          </a:p>
        </p:txBody>
      </p:sp>
      <p:sp>
        <p:nvSpPr>
          <p:cNvPr id="191" name="Google Shape;191;p43"/>
          <p:cNvSpPr txBox="1"/>
          <p:nvPr/>
        </p:nvSpPr>
        <p:spPr>
          <a:xfrm>
            <a:off x="4191000" y="1143002"/>
            <a:ext cx="6477000" cy="461665"/>
          </a:xfrm>
          <a:prstGeom prst="rect">
            <a:avLst/>
          </a:prstGeom>
          <a:noFill/>
          <a:ln>
            <a:noFill/>
          </a:ln>
        </p:spPr>
        <p:txBody>
          <a:bodyPr spcFirstLastPara="1" wrap="square" lIns="91425" tIns="45700" rIns="91425" bIns="45700" anchor="t" anchorCtr="0">
            <a:spAutoFit/>
          </a:bodyPr>
          <a:lstStyle/>
          <a:p>
            <a:pPr marL="342891" marR="0" lvl="0" indent="-342891" algn="r" rtl="0">
              <a:lnSpc>
                <a:spcPct val="100000"/>
              </a:lnSpc>
              <a:spcBef>
                <a:spcPts val="0"/>
              </a:spcBef>
              <a:spcAft>
                <a:spcPts val="0"/>
              </a:spcAft>
              <a:buClr>
                <a:srgbClr val="000000"/>
              </a:buClr>
              <a:buSzPts val="2400"/>
              <a:buFont typeface="Arial"/>
              <a:buNone/>
            </a:pPr>
            <a:r>
              <a:rPr lang="en-US" sz="2400" b="0" i="0" u="none" strike="noStrike" cap="none" dirty="0">
                <a:latin typeface="Calibri"/>
                <a:ea typeface="Calibri"/>
                <a:cs typeface="Calibri"/>
                <a:sym typeface="Calibri"/>
              </a:rPr>
              <a:t>Problem Statement</a:t>
            </a:r>
            <a:endParaRPr sz="1400" b="0" i="0" u="none" strike="noStrike" cap="none"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3"/>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0" name="Google Shape;190;p43"/>
          <p:cNvSpPr txBox="1"/>
          <p:nvPr/>
        </p:nvSpPr>
        <p:spPr>
          <a:xfrm>
            <a:off x="895545" y="2209800"/>
            <a:ext cx="9772579" cy="41910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200"/>
              <a:buFont typeface="Arial"/>
              <a:buNone/>
            </a:pPr>
            <a:endParaRPr lang="en-US" sz="2000" dirty="0">
              <a:solidFill>
                <a:schemeClr val="accent4"/>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200"/>
              <a:buFont typeface="Arial"/>
              <a:buNone/>
            </a:pPr>
            <a:r>
              <a:rPr lang="en-US" sz="2600" dirty="0">
                <a:solidFill>
                  <a:schemeClr val="accent4"/>
                </a:solidFill>
                <a:latin typeface="Calibri"/>
                <a:ea typeface="Calibri"/>
                <a:cs typeface="Calibri"/>
                <a:sym typeface="Calibri"/>
              </a:rPr>
              <a:t>-&gt; Can cope up with price volatility</a:t>
            </a:r>
          </a:p>
          <a:p>
            <a:pPr marL="0" marR="0" lvl="0" indent="0" algn="just" rtl="0">
              <a:lnSpc>
                <a:spcPct val="100000"/>
              </a:lnSpc>
              <a:spcBef>
                <a:spcPts val="0"/>
              </a:spcBef>
              <a:spcAft>
                <a:spcPts val="0"/>
              </a:spcAft>
              <a:buClr>
                <a:schemeClr val="dk1"/>
              </a:buClr>
              <a:buSzPts val="2200"/>
              <a:buFont typeface="Arial"/>
              <a:buNone/>
            </a:pPr>
            <a:r>
              <a:rPr lang="en-US" sz="2600" b="0" i="0" u="none" strike="noStrike" cap="none" dirty="0">
                <a:solidFill>
                  <a:schemeClr val="accent4"/>
                </a:solidFill>
                <a:latin typeface="Calibri"/>
                <a:ea typeface="Calibri"/>
                <a:cs typeface="Calibri"/>
                <a:sym typeface="Calibri"/>
              </a:rPr>
              <a:t>-&gt; Can analyze multiple sources at a time</a:t>
            </a:r>
          </a:p>
          <a:p>
            <a:pPr marL="0" marR="0" lvl="0" indent="0" algn="just" rtl="0">
              <a:lnSpc>
                <a:spcPct val="100000"/>
              </a:lnSpc>
              <a:spcBef>
                <a:spcPts val="0"/>
              </a:spcBef>
              <a:spcAft>
                <a:spcPts val="0"/>
              </a:spcAft>
              <a:buClr>
                <a:schemeClr val="dk1"/>
              </a:buClr>
              <a:buSzPts val="2200"/>
              <a:buFont typeface="Arial"/>
              <a:buNone/>
            </a:pPr>
            <a:r>
              <a:rPr lang="en-US" sz="2600" dirty="0">
                <a:solidFill>
                  <a:schemeClr val="accent4"/>
                </a:solidFill>
                <a:latin typeface="Calibri"/>
                <a:ea typeface="Calibri"/>
                <a:cs typeface="Calibri"/>
                <a:sym typeface="Calibri"/>
              </a:rPr>
              <a:t>-&gt; Improves the accuracy of price predictions</a:t>
            </a:r>
          </a:p>
          <a:p>
            <a:pPr marL="0" marR="0" lvl="0" indent="0" algn="just" rtl="0">
              <a:lnSpc>
                <a:spcPct val="100000"/>
              </a:lnSpc>
              <a:spcBef>
                <a:spcPts val="0"/>
              </a:spcBef>
              <a:spcAft>
                <a:spcPts val="0"/>
              </a:spcAft>
              <a:buClr>
                <a:schemeClr val="dk1"/>
              </a:buClr>
              <a:buSzPts val="2200"/>
              <a:buFont typeface="Arial"/>
              <a:buNone/>
            </a:pPr>
            <a:r>
              <a:rPr lang="en-US" sz="2600" b="0" i="0" u="none" strike="noStrike" cap="none" dirty="0">
                <a:solidFill>
                  <a:schemeClr val="accent4"/>
                </a:solidFill>
                <a:latin typeface="Calibri"/>
                <a:ea typeface="Calibri"/>
                <a:cs typeface="Calibri"/>
                <a:sym typeface="Calibri"/>
              </a:rPr>
              <a:t>-&gt; Improves profit margin</a:t>
            </a:r>
          </a:p>
          <a:p>
            <a:pPr marL="0" marR="0" lvl="0" indent="0" rtl="0">
              <a:lnSpc>
                <a:spcPct val="100000"/>
              </a:lnSpc>
              <a:spcBef>
                <a:spcPts val="0"/>
              </a:spcBef>
              <a:spcAft>
                <a:spcPts val="0"/>
              </a:spcAft>
              <a:buClr>
                <a:schemeClr val="dk1"/>
              </a:buClr>
              <a:buSzPts val="2200"/>
              <a:buFont typeface="Arial"/>
              <a:buNone/>
            </a:pPr>
            <a:r>
              <a:rPr lang="en-US" sz="2600" dirty="0">
                <a:solidFill>
                  <a:schemeClr val="accent4"/>
                </a:solidFill>
                <a:latin typeface="Calibri"/>
                <a:ea typeface="Calibri"/>
                <a:cs typeface="Calibri"/>
                <a:sym typeface="Calibri"/>
              </a:rPr>
              <a:t>-&gt; Industrial sectors like retail, marketing, automotive and stock picking              benefit the most.</a:t>
            </a:r>
            <a:endParaRPr sz="2600" b="0" i="0" u="none" strike="noStrike" cap="none" dirty="0">
              <a:solidFill>
                <a:schemeClr val="accent4"/>
              </a:solidFill>
              <a:latin typeface="Calibri"/>
              <a:ea typeface="Calibri"/>
              <a:cs typeface="Calibri"/>
              <a:sym typeface="Calibri"/>
            </a:endParaRPr>
          </a:p>
        </p:txBody>
      </p:sp>
      <p:sp>
        <p:nvSpPr>
          <p:cNvPr id="191" name="Google Shape;191;p43"/>
          <p:cNvSpPr txBox="1"/>
          <p:nvPr/>
        </p:nvSpPr>
        <p:spPr>
          <a:xfrm>
            <a:off x="4191000" y="1143002"/>
            <a:ext cx="6477000" cy="461665"/>
          </a:xfrm>
          <a:prstGeom prst="rect">
            <a:avLst/>
          </a:prstGeom>
          <a:noFill/>
          <a:ln>
            <a:noFill/>
          </a:ln>
        </p:spPr>
        <p:txBody>
          <a:bodyPr spcFirstLastPara="1" wrap="square" lIns="91425" tIns="45700" rIns="91425" bIns="45700" anchor="t" anchorCtr="0">
            <a:spAutoFit/>
          </a:bodyPr>
          <a:lstStyle/>
          <a:p>
            <a:pPr marL="342891" marR="0" lvl="0" indent="-342891" algn="r" rtl="0">
              <a:lnSpc>
                <a:spcPct val="100000"/>
              </a:lnSpc>
              <a:spcBef>
                <a:spcPts val="0"/>
              </a:spcBef>
              <a:spcAft>
                <a:spcPts val="0"/>
              </a:spcAft>
              <a:buClr>
                <a:srgbClr val="000000"/>
              </a:buClr>
              <a:buSzPts val="2400"/>
              <a:buFont typeface="Arial"/>
              <a:buNone/>
            </a:pPr>
            <a:r>
              <a:rPr lang="en-US" sz="2400" b="0" i="0" u="none" strike="noStrike" cap="none" dirty="0">
                <a:latin typeface="Calibri"/>
                <a:ea typeface="Calibri"/>
                <a:cs typeface="Calibri"/>
                <a:sym typeface="Calibri"/>
              </a:rPr>
              <a:t>Application  and Uses</a:t>
            </a:r>
            <a:endParaRPr sz="1400" b="0" i="0" u="none" strike="noStrike" cap="none" dirty="0">
              <a:latin typeface="Calibri"/>
              <a:ea typeface="Calibri"/>
              <a:cs typeface="Calibri"/>
              <a:sym typeface="Calibri"/>
            </a:endParaRPr>
          </a:p>
        </p:txBody>
      </p:sp>
    </p:spTree>
    <p:extLst>
      <p:ext uri="{BB962C8B-B14F-4D97-AF65-F5344CB8AC3E}">
        <p14:creationId xmlns:p14="http://schemas.microsoft.com/office/powerpoint/2010/main" val="1723141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E38C8C-159D-E66B-B09E-DA6A9033CDC4}"/>
              </a:ext>
            </a:extLst>
          </p:cNvPr>
          <p:cNvPicPr>
            <a:picLocks noChangeAspect="1"/>
          </p:cNvPicPr>
          <p:nvPr/>
        </p:nvPicPr>
        <p:blipFill rotWithShape="1">
          <a:blip r:embed="rId2"/>
          <a:srcRect l="24263" t="26787" r="28207" b="14911"/>
          <a:stretch/>
        </p:blipFill>
        <p:spPr bwMode="auto">
          <a:xfrm>
            <a:off x="866105" y="1588305"/>
            <a:ext cx="5478933" cy="4191000"/>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DB8F1435-F109-8B43-27C0-65445B4D3325}"/>
              </a:ext>
            </a:extLst>
          </p:cNvPr>
          <p:cNvSpPr txBox="1"/>
          <p:nvPr/>
        </p:nvSpPr>
        <p:spPr>
          <a:xfrm>
            <a:off x="6271169" y="2529643"/>
            <a:ext cx="4910177" cy="2308324"/>
          </a:xfrm>
          <a:prstGeom prst="rect">
            <a:avLst/>
          </a:prstGeom>
          <a:noFill/>
        </p:spPr>
        <p:txBody>
          <a:bodyPr wrap="square">
            <a:spAutoFit/>
          </a:bodyPr>
          <a:lstStyle/>
          <a:p>
            <a:pPr marL="107950" indent="0">
              <a:buNone/>
            </a:pPr>
            <a:r>
              <a:rPr lang="en-US" sz="1800" dirty="0">
                <a:solidFill>
                  <a:schemeClr val="accent4"/>
                </a:solidFill>
                <a:latin typeface="Calibri" panose="020F0502020204030204" pitchFamily="34" charset="0"/>
                <a:cs typeface="Calibri" panose="020F0502020204030204" pitchFamily="34" charset="0"/>
              </a:rPr>
              <a:t>The data is pre-processed after it is collected. Once the data is processed it is split into training data and test data (Train test split). This is then fed into Linear and Lasso Regression model to compare the error percentage or the accuracy score. After this we have Trained Linear and Lasso Regression model to which the new data can be fed and the car price can be predicted.</a:t>
            </a:r>
            <a:endParaRPr lang="en-IN" sz="1800" dirty="0">
              <a:solidFill>
                <a:schemeClr val="accent4"/>
              </a:solidFill>
              <a:latin typeface="Calibri" panose="020F0502020204030204" pitchFamily="34" charset="0"/>
              <a:cs typeface="Calibri" panose="020F0502020204030204" pitchFamily="34" charset="0"/>
            </a:endParaRPr>
          </a:p>
        </p:txBody>
      </p:sp>
      <p:sp>
        <p:nvSpPr>
          <p:cNvPr id="8" name="Google Shape;191;p43">
            <a:extLst>
              <a:ext uri="{FF2B5EF4-FFF2-40B4-BE49-F238E27FC236}">
                <a16:creationId xmlns:a16="http://schemas.microsoft.com/office/drawing/2014/main" id="{FB907F30-978A-7328-5FE8-C6CFA2A5B347}"/>
              </a:ext>
            </a:extLst>
          </p:cNvPr>
          <p:cNvSpPr txBox="1">
            <a:spLocks noGrp="1"/>
          </p:cNvSpPr>
          <p:nvPr>
            <p:ph type="title"/>
          </p:nvPr>
        </p:nvSpPr>
        <p:spPr>
          <a:xfrm>
            <a:off x="1160617" y="659712"/>
            <a:ext cx="10032116" cy="461624"/>
          </a:xfrm>
          <a:prstGeom prst="rect">
            <a:avLst/>
          </a:prstGeom>
          <a:noFill/>
          <a:ln>
            <a:noFill/>
          </a:ln>
        </p:spPr>
        <p:txBody>
          <a:bodyPr spcFirstLastPara="1" wrap="square" lIns="91425" tIns="45700" rIns="91425" bIns="45700" anchor="t" anchorCtr="0">
            <a:spAutoFit/>
          </a:bodyPr>
          <a:lstStyle/>
          <a:p>
            <a:pPr marL="342891" marR="0" lvl="0" indent="-342891" algn="r" rtl="0">
              <a:lnSpc>
                <a:spcPct val="100000"/>
              </a:lnSpc>
              <a:spcBef>
                <a:spcPts val="0"/>
              </a:spcBef>
              <a:spcAft>
                <a:spcPts val="0"/>
              </a:spcAft>
              <a:buClr>
                <a:srgbClr val="000000"/>
              </a:buClr>
              <a:buSzPts val="2400"/>
              <a:buFont typeface="Arial"/>
              <a:buNone/>
            </a:pPr>
            <a:r>
              <a:rPr lang="en-US" sz="2400" b="0" i="0" u="none" strike="noStrike" cap="none" dirty="0">
                <a:solidFill>
                  <a:schemeClr val="tx1"/>
                </a:solidFill>
                <a:latin typeface="Calibri"/>
                <a:ea typeface="Calibri"/>
                <a:cs typeface="Calibri"/>
                <a:sym typeface="Calibri"/>
              </a:rPr>
              <a:t>High level Architecture    </a:t>
            </a:r>
            <a:endParaRPr sz="1400" b="0" i="0" u="none" strike="noStrike" cap="none" dirty="0">
              <a:solidFill>
                <a:schemeClr val="tx1"/>
              </a:solidFill>
              <a:latin typeface="Calibri"/>
              <a:ea typeface="Calibri"/>
              <a:cs typeface="Calibri"/>
              <a:sym typeface="Calibri"/>
            </a:endParaRPr>
          </a:p>
        </p:txBody>
      </p:sp>
      <p:sp>
        <p:nvSpPr>
          <p:cNvPr id="9" name="Google Shape;189;p43">
            <a:extLst>
              <a:ext uri="{FF2B5EF4-FFF2-40B4-BE49-F238E27FC236}">
                <a16:creationId xmlns:a16="http://schemas.microsoft.com/office/drawing/2014/main" id="{B2CB25E1-3C5B-D104-E59C-86D9A8E7E625}"/>
              </a:ext>
            </a:extLst>
          </p:cNvPr>
          <p:cNvSpPr/>
          <p:nvPr/>
        </p:nvSpPr>
        <p:spPr>
          <a:xfrm>
            <a:off x="1905371" y="1225484"/>
            <a:ext cx="9225699" cy="52819"/>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2879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2">
            <a:extLst>
              <a:ext uri="{FF2B5EF4-FFF2-40B4-BE49-F238E27FC236}">
                <a16:creationId xmlns:a16="http://schemas.microsoft.com/office/drawing/2014/main" id="{3F92F21D-238B-FD07-4EEE-05B3A7AF0761}"/>
              </a:ext>
            </a:extLst>
          </p:cNvPr>
          <p:cNvGraphicFramePr>
            <a:graphicFrameLocks noGrp="1"/>
          </p:cNvGraphicFramePr>
          <p:nvPr>
            <p:extLst>
              <p:ext uri="{D42A27DB-BD31-4B8C-83A1-F6EECF244321}">
                <p14:modId xmlns:p14="http://schemas.microsoft.com/office/powerpoint/2010/main" val="2602541631"/>
              </p:ext>
            </p:extLst>
          </p:nvPr>
        </p:nvGraphicFramePr>
        <p:xfrm>
          <a:off x="461914" y="228600"/>
          <a:ext cx="11462990" cy="6400800"/>
        </p:xfrm>
        <a:graphic>
          <a:graphicData uri="http://schemas.openxmlformats.org/drawingml/2006/table">
            <a:tbl>
              <a:tblPr firstRow="1" bandRow="1">
                <a:tableStyleId>{5C22544A-7EE6-4342-B048-85BDC9FD1C3A}</a:tableStyleId>
              </a:tblPr>
              <a:tblGrid>
                <a:gridCol w="2292598">
                  <a:extLst>
                    <a:ext uri="{9D8B030D-6E8A-4147-A177-3AD203B41FA5}">
                      <a16:colId xmlns:a16="http://schemas.microsoft.com/office/drawing/2014/main" val="1111254410"/>
                    </a:ext>
                  </a:extLst>
                </a:gridCol>
                <a:gridCol w="2292598">
                  <a:extLst>
                    <a:ext uri="{9D8B030D-6E8A-4147-A177-3AD203B41FA5}">
                      <a16:colId xmlns:a16="http://schemas.microsoft.com/office/drawing/2014/main" val="1968346851"/>
                    </a:ext>
                  </a:extLst>
                </a:gridCol>
                <a:gridCol w="2292598">
                  <a:extLst>
                    <a:ext uri="{9D8B030D-6E8A-4147-A177-3AD203B41FA5}">
                      <a16:colId xmlns:a16="http://schemas.microsoft.com/office/drawing/2014/main" val="798510908"/>
                    </a:ext>
                  </a:extLst>
                </a:gridCol>
                <a:gridCol w="2292598">
                  <a:extLst>
                    <a:ext uri="{9D8B030D-6E8A-4147-A177-3AD203B41FA5}">
                      <a16:colId xmlns:a16="http://schemas.microsoft.com/office/drawing/2014/main" val="3570415204"/>
                    </a:ext>
                  </a:extLst>
                </a:gridCol>
                <a:gridCol w="2292598">
                  <a:extLst>
                    <a:ext uri="{9D8B030D-6E8A-4147-A177-3AD203B41FA5}">
                      <a16:colId xmlns:a16="http://schemas.microsoft.com/office/drawing/2014/main" val="1399293989"/>
                    </a:ext>
                  </a:extLst>
                </a:gridCol>
              </a:tblGrid>
              <a:tr h="602844">
                <a:tc>
                  <a:txBody>
                    <a:bodyPr/>
                    <a:lstStyle/>
                    <a:p>
                      <a:r>
                        <a:rPr lang="en-US" dirty="0"/>
                        <a:t>Title of the paper</a:t>
                      </a:r>
                    </a:p>
                  </a:txBody>
                  <a:tcPr/>
                </a:tc>
                <a:tc>
                  <a:txBody>
                    <a:bodyPr/>
                    <a:lstStyle/>
                    <a:p>
                      <a:r>
                        <a:rPr lang="en-US" dirty="0"/>
                        <a:t>Year of Publication</a:t>
                      </a:r>
                    </a:p>
                  </a:txBody>
                  <a:tcPr/>
                </a:tc>
                <a:tc>
                  <a:txBody>
                    <a:bodyPr/>
                    <a:lstStyle/>
                    <a:p>
                      <a:r>
                        <a:rPr lang="en-US" dirty="0"/>
                        <a:t>Journal/Conference Name</a:t>
                      </a:r>
                    </a:p>
                  </a:txBody>
                  <a:tcPr/>
                </a:tc>
                <a:tc>
                  <a:txBody>
                    <a:bodyPr/>
                    <a:lstStyle/>
                    <a:p>
                      <a:r>
                        <a:rPr lang="en-US" dirty="0"/>
                        <a:t>Advantages</a:t>
                      </a:r>
                    </a:p>
                  </a:txBody>
                  <a:tcPr/>
                </a:tc>
                <a:tc>
                  <a:txBody>
                    <a:bodyPr/>
                    <a:lstStyle/>
                    <a:p>
                      <a:r>
                        <a:rPr lang="en-US" dirty="0"/>
                        <a:t>Limitations</a:t>
                      </a:r>
                    </a:p>
                  </a:txBody>
                  <a:tcPr/>
                </a:tc>
                <a:extLst>
                  <a:ext uri="{0D108BD9-81ED-4DB2-BD59-A6C34878D82A}">
                    <a16:rowId xmlns:a16="http://schemas.microsoft.com/office/drawing/2014/main" val="1424224"/>
                  </a:ext>
                </a:extLst>
              </a:tr>
              <a:tr h="1636291">
                <a:tc>
                  <a:txBody>
                    <a:bodyPr/>
                    <a:lstStyle/>
                    <a:p>
                      <a:r>
                        <a:rPr lang="en-US" dirty="0"/>
                        <a:t>Car Price Prediction</a:t>
                      </a:r>
                    </a:p>
                  </a:txBody>
                  <a:tcPr/>
                </a:tc>
                <a:tc>
                  <a:txBody>
                    <a:bodyPr/>
                    <a:lstStyle/>
                    <a:p>
                      <a:r>
                        <a:rPr lang="en-US" dirty="0"/>
                        <a:t>2019</a:t>
                      </a:r>
                    </a:p>
                  </a:txBody>
                  <a:tcPr/>
                </a:tc>
                <a:tc>
                  <a:txBody>
                    <a:bodyPr/>
                    <a:lstStyle/>
                    <a:p>
                      <a:r>
                        <a:rPr lang="en-US" dirty="0"/>
                        <a:t>TEM Journal</a:t>
                      </a:r>
                    </a:p>
                  </a:txBody>
                  <a:tcPr/>
                </a:tc>
                <a:tc>
                  <a:txBody>
                    <a:bodyPr/>
                    <a:lstStyle/>
                    <a:p>
                      <a:r>
                        <a:rPr lang="en-US" dirty="0"/>
                        <a:t>PHP scripts were built to normalize, standardize and clean data to avoid unnecessary noise for ML algorithms.</a:t>
                      </a:r>
                    </a:p>
                  </a:txBody>
                  <a:tcPr/>
                </a:tc>
                <a:tc>
                  <a:txBody>
                    <a:bodyPr/>
                    <a:lstStyle/>
                    <a:p>
                      <a:r>
                        <a:rPr lang="en-US" dirty="0"/>
                        <a:t>It consumes much more computational resources than single ML algorithm.</a:t>
                      </a:r>
                    </a:p>
                  </a:txBody>
                  <a:tcPr/>
                </a:tc>
                <a:extLst>
                  <a:ext uri="{0D108BD9-81ED-4DB2-BD59-A6C34878D82A}">
                    <a16:rowId xmlns:a16="http://schemas.microsoft.com/office/drawing/2014/main" val="847681876"/>
                  </a:ext>
                </a:extLst>
              </a:tr>
              <a:tr h="163629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Car Price Prediction</a:t>
                      </a:r>
                    </a:p>
                    <a:p>
                      <a:endParaRPr lang="en-US" dirty="0"/>
                    </a:p>
                  </a:txBody>
                  <a:tcPr/>
                </a:tc>
                <a:tc>
                  <a:txBody>
                    <a:bodyPr/>
                    <a:lstStyle/>
                    <a:p>
                      <a:r>
                        <a:rPr lang="en-US" dirty="0"/>
                        <a:t>2019</a:t>
                      </a:r>
                    </a:p>
                  </a:txBody>
                  <a:tcPr/>
                </a:tc>
                <a:tc>
                  <a:txBody>
                    <a:bodyPr/>
                    <a:lstStyle/>
                    <a:p>
                      <a:r>
                        <a:rPr lang="en-US" dirty="0"/>
                        <a:t>International Journal of Engineering and Advanced Technology (IJEAT)</a:t>
                      </a:r>
                    </a:p>
                  </a:txBody>
                  <a:tcPr/>
                </a:tc>
                <a:tc>
                  <a:txBody>
                    <a:bodyPr/>
                    <a:lstStyle/>
                    <a:p>
                      <a:r>
                        <a:rPr lang="en-US" dirty="0"/>
                        <a:t>Use of three different prediction models to predict the retail priced of a used car and compare their levels of accuracy. </a:t>
                      </a:r>
                    </a:p>
                  </a:txBody>
                  <a:tcPr/>
                </a:tc>
                <a:tc>
                  <a:txBody>
                    <a:bodyPr/>
                    <a:lstStyle/>
                    <a:p>
                      <a:r>
                        <a:rPr lang="en-US" dirty="0"/>
                        <a:t>The mean error of the regression tree model is more than the error rate of the of the multiple and lasso regression models. </a:t>
                      </a:r>
                    </a:p>
                  </a:txBody>
                  <a:tcPr/>
                </a:tc>
                <a:extLst>
                  <a:ext uri="{0D108BD9-81ED-4DB2-BD59-A6C34878D82A}">
                    <a16:rowId xmlns:a16="http://schemas.microsoft.com/office/drawing/2014/main" val="1763260453"/>
                  </a:ext>
                </a:extLst>
              </a:tr>
              <a:tr h="215301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Car Price Prediction</a:t>
                      </a:r>
                    </a:p>
                    <a:p>
                      <a:endParaRPr lang="en-US" dirty="0"/>
                    </a:p>
                  </a:txBody>
                  <a:tcPr/>
                </a:tc>
                <a:tc>
                  <a:txBody>
                    <a:bodyPr/>
                    <a:lstStyle/>
                    <a:p>
                      <a:r>
                        <a:rPr lang="en-US" dirty="0"/>
                        <a:t>2021</a:t>
                      </a:r>
                    </a:p>
                  </a:txBody>
                  <a:tcPr/>
                </a:tc>
                <a:tc>
                  <a:txBody>
                    <a:bodyPr/>
                    <a:lstStyle/>
                    <a:p>
                      <a:r>
                        <a:rPr lang="en-US" dirty="0"/>
                        <a:t>International research journal of modernization in engineering technology and science</a:t>
                      </a:r>
                    </a:p>
                  </a:txBody>
                  <a:tcPr/>
                </a:tc>
                <a:tc>
                  <a:txBody>
                    <a:bodyPr/>
                    <a:lstStyle/>
                    <a:p>
                      <a:r>
                        <a:rPr lang="en-US" dirty="0"/>
                        <a:t>Comparing the prediction accuracy of linear-regression, KNN, Random forest, XG boost and decision tree models to determine the optimal one</a:t>
                      </a:r>
                    </a:p>
                  </a:txBody>
                  <a:tcPr/>
                </a:tc>
                <a:tc>
                  <a:txBody>
                    <a:bodyPr/>
                    <a:lstStyle/>
                    <a:p>
                      <a:r>
                        <a:rPr lang="en-US" dirty="0"/>
                        <a:t>Less number of records of old cars.</a:t>
                      </a:r>
                    </a:p>
                  </a:txBody>
                  <a:tcPr/>
                </a:tc>
                <a:extLst>
                  <a:ext uri="{0D108BD9-81ED-4DB2-BD59-A6C34878D82A}">
                    <a16:rowId xmlns:a16="http://schemas.microsoft.com/office/drawing/2014/main" val="775881643"/>
                  </a:ext>
                </a:extLst>
              </a:tr>
            </a:tbl>
          </a:graphicData>
        </a:graphic>
      </p:graphicFrame>
    </p:spTree>
    <p:extLst>
      <p:ext uri="{BB962C8B-B14F-4D97-AF65-F5344CB8AC3E}">
        <p14:creationId xmlns:p14="http://schemas.microsoft.com/office/powerpoint/2010/main" val="348152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2">
            <a:extLst>
              <a:ext uri="{FF2B5EF4-FFF2-40B4-BE49-F238E27FC236}">
                <a16:creationId xmlns:a16="http://schemas.microsoft.com/office/drawing/2014/main" id="{7B3C0315-BDE3-D3F8-0F0A-C1149B971547}"/>
              </a:ext>
            </a:extLst>
          </p:cNvPr>
          <p:cNvGraphicFramePr>
            <a:graphicFrameLocks noGrp="1"/>
          </p:cNvGraphicFramePr>
          <p:nvPr>
            <p:extLst>
              <p:ext uri="{D42A27DB-BD31-4B8C-83A1-F6EECF244321}">
                <p14:modId xmlns:p14="http://schemas.microsoft.com/office/powerpoint/2010/main" val="426181153"/>
              </p:ext>
            </p:extLst>
          </p:nvPr>
        </p:nvGraphicFramePr>
        <p:xfrm>
          <a:off x="331510" y="279970"/>
          <a:ext cx="11528980" cy="6298059"/>
        </p:xfrm>
        <a:graphic>
          <a:graphicData uri="http://schemas.openxmlformats.org/drawingml/2006/table">
            <a:tbl>
              <a:tblPr firstRow="1" bandRow="1">
                <a:tableStyleId>{5C22544A-7EE6-4342-B048-85BDC9FD1C3A}</a:tableStyleId>
              </a:tblPr>
              <a:tblGrid>
                <a:gridCol w="2305796">
                  <a:extLst>
                    <a:ext uri="{9D8B030D-6E8A-4147-A177-3AD203B41FA5}">
                      <a16:colId xmlns:a16="http://schemas.microsoft.com/office/drawing/2014/main" val="1111254410"/>
                    </a:ext>
                  </a:extLst>
                </a:gridCol>
                <a:gridCol w="2305796">
                  <a:extLst>
                    <a:ext uri="{9D8B030D-6E8A-4147-A177-3AD203B41FA5}">
                      <a16:colId xmlns:a16="http://schemas.microsoft.com/office/drawing/2014/main" val="1968346851"/>
                    </a:ext>
                  </a:extLst>
                </a:gridCol>
                <a:gridCol w="2305796">
                  <a:extLst>
                    <a:ext uri="{9D8B030D-6E8A-4147-A177-3AD203B41FA5}">
                      <a16:colId xmlns:a16="http://schemas.microsoft.com/office/drawing/2014/main" val="798510908"/>
                    </a:ext>
                  </a:extLst>
                </a:gridCol>
                <a:gridCol w="2305796">
                  <a:extLst>
                    <a:ext uri="{9D8B030D-6E8A-4147-A177-3AD203B41FA5}">
                      <a16:colId xmlns:a16="http://schemas.microsoft.com/office/drawing/2014/main" val="3570415204"/>
                    </a:ext>
                  </a:extLst>
                </a:gridCol>
                <a:gridCol w="2305796">
                  <a:extLst>
                    <a:ext uri="{9D8B030D-6E8A-4147-A177-3AD203B41FA5}">
                      <a16:colId xmlns:a16="http://schemas.microsoft.com/office/drawing/2014/main" val="1399293989"/>
                    </a:ext>
                  </a:extLst>
                </a:gridCol>
              </a:tblGrid>
              <a:tr h="811659">
                <a:tc>
                  <a:txBody>
                    <a:bodyPr/>
                    <a:lstStyle/>
                    <a:p>
                      <a:r>
                        <a:rPr lang="en-US" dirty="0"/>
                        <a:t>Title of the paper</a:t>
                      </a:r>
                    </a:p>
                  </a:txBody>
                  <a:tcPr/>
                </a:tc>
                <a:tc>
                  <a:txBody>
                    <a:bodyPr/>
                    <a:lstStyle/>
                    <a:p>
                      <a:r>
                        <a:rPr lang="en-US" dirty="0"/>
                        <a:t>Year of Publication</a:t>
                      </a:r>
                    </a:p>
                  </a:txBody>
                  <a:tcPr/>
                </a:tc>
                <a:tc>
                  <a:txBody>
                    <a:bodyPr/>
                    <a:lstStyle/>
                    <a:p>
                      <a:r>
                        <a:rPr lang="en-US" dirty="0"/>
                        <a:t>Journal/Conference Name</a:t>
                      </a:r>
                    </a:p>
                  </a:txBody>
                  <a:tcPr/>
                </a:tc>
                <a:tc>
                  <a:txBody>
                    <a:bodyPr/>
                    <a:lstStyle/>
                    <a:p>
                      <a:r>
                        <a:rPr lang="en-US" dirty="0"/>
                        <a:t>Advantages</a:t>
                      </a:r>
                    </a:p>
                  </a:txBody>
                  <a:tcPr/>
                </a:tc>
                <a:tc>
                  <a:txBody>
                    <a:bodyPr/>
                    <a:lstStyle/>
                    <a:p>
                      <a:r>
                        <a:rPr lang="en-US" dirty="0"/>
                        <a:t>Limitations</a:t>
                      </a:r>
                    </a:p>
                  </a:txBody>
                  <a:tcPr/>
                </a:tc>
                <a:extLst>
                  <a:ext uri="{0D108BD9-81ED-4DB2-BD59-A6C34878D82A}">
                    <a16:rowId xmlns:a16="http://schemas.microsoft.com/office/drawing/2014/main" val="1424224"/>
                  </a:ext>
                </a:extLst>
              </a:tr>
              <a:tr h="111399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Car Price Prediction</a:t>
                      </a:r>
                    </a:p>
                    <a:p>
                      <a:endParaRPr lang="en-US" dirty="0"/>
                    </a:p>
                  </a:txBody>
                  <a:tcPr/>
                </a:tc>
                <a:tc>
                  <a:txBody>
                    <a:bodyPr/>
                    <a:lstStyle/>
                    <a:p>
                      <a:r>
                        <a:rPr lang="en-US" dirty="0"/>
                        <a:t>2014</a:t>
                      </a:r>
                    </a:p>
                  </a:txBody>
                  <a:tcPr/>
                </a:tc>
                <a:tc>
                  <a:txBody>
                    <a:bodyPr/>
                    <a:lstStyle/>
                    <a:p>
                      <a:r>
                        <a:rPr lang="en-US" dirty="0"/>
                        <a:t>Journal of Emerging Technologies and Innovative Research (JETIR)</a:t>
                      </a:r>
                    </a:p>
                  </a:txBody>
                  <a:tcPr/>
                </a:tc>
                <a:tc>
                  <a:txBody>
                    <a:bodyPr/>
                    <a:lstStyle/>
                    <a:p>
                      <a:r>
                        <a:rPr lang="en-US" dirty="0"/>
                        <a:t>They’ve compared some algorithms for prognosticating auto buying purposes which gives better delicacy.</a:t>
                      </a:r>
                    </a:p>
                  </a:txBody>
                  <a:tcPr/>
                </a:tc>
                <a:tc>
                  <a:txBody>
                    <a:bodyPr/>
                    <a:lstStyle/>
                    <a:p>
                      <a:r>
                        <a:rPr lang="en-US" dirty="0"/>
                        <a:t>Gradient boosting algorithm is used which scarifies intelligibility and interpretability. Low number of records have been used.</a:t>
                      </a:r>
                    </a:p>
                  </a:txBody>
                  <a:tcPr/>
                </a:tc>
                <a:extLst>
                  <a:ext uri="{0D108BD9-81ED-4DB2-BD59-A6C34878D82A}">
                    <a16:rowId xmlns:a16="http://schemas.microsoft.com/office/drawing/2014/main" val="847681876"/>
                  </a:ext>
                </a:extLst>
              </a:tr>
              <a:tr h="111399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Car Price Prediction</a:t>
                      </a:r>
                    </a:p>
                    <a:p>
                      <a:endParaRPr lang="en-US" dirty="0"/>
                    </a:p>
                  </a:txBody>
                  <a:tcPr/>
                </a:tc>
                <a:tc>
                  <a:txBody>
                    <a:bodyPr/>
                    <a:lstStyle/>
                    <a:p>
                      <a:r>
                        <a:rPr lang="en-US" dirty="0"/>
                        <a:t>2013</a:t>
                      </a:r>
                    </a:p>
                  </a:txBody>
                  <a:tcPr/>
                </a:tc>
                <a:tc>
                  <a:txBody>
                    <a:bodyPr/>
                    <a:lstStyle/>
                    <a:p>
                      <a:r>
                        <a:rPr lang="en-US" dirty="0" err="1"/>
                        <a:t>Ijraset</a:t>
                      </a:r>
                      <a:r>
                        <a:rPr lang="en-US" dirty="0"/>
                        <a:t> journal for research in applied science and engineering</a:t>
                      </a:r>
                    </a:p>
                  </a:txBody>
                  <a:tcPr/>
                </a:tc>
                <a:tc>
                  <a:txBody>
                    <a:bodyPr/>
                    <a:lstStyle/>
                    <a:p>
                      <a:r>
                        <a:rPr lang="en-US" dirty="0"/>
                        <a:t>Random forest and Extra tree regression methodologies have been used which are amazingly precise and quick irrespective of the size if the dataset.</a:t>
                      </a:r>
                    </a:p>
                  </a:txBody>
                  <a:tcPr/>
                </a:tc>
                <a:tc>
                  <a:txBody>
                    <a:bodyPr/>
                    <a:lstStyle/>
                    <a:p>
                      <a:r>
                        <a:rPr lang="en-US" dirty="0"/>
                        <a:t>Information related to past vehicle cost is not used which helps the AI model to increment its precision.  </a:t>
                      </a:r>
                    </a:p>
                  </a:txBody>
                  <a:tcPr/>
                </a:tc>
                <a:extLst>
                  <a:ext uri="{0D108BD9-81ED-4DB2-BD59-A6C34878D82A}">
                    <a16:rowId xmlns:a16="http://schemas.microsoft.com/office/drawing/2014/main" val="2424476626"/>
                  </a:ext>
                </a:extLst>
              </a:tr>
              <a:tr h="69836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Car Price Prediction</a:t>
                      </a:r>
                    </a:p>
                    <a:p>
                      <a:endParaRPr lang="en-US" dirty="0"/>
                    </a:p>
                  </a:txBody>
                  <a:tcPr/>
                </a:tc>
                <a:tc>
                  <a:txBody>
                    <a:bodyPr/>
                    <a:lstStyle/>
                    <a:p>
                      <a:r>
                        <a:rPr lang="en-US" dirty="0"/>
                        <a:t>2020</a:t>
                      </a:r>
                    </a:p>
                  </a:txBody>
                  <a:tcPr/>
                </a:tc>
                <a:tc>
                  <a:txBody>
                    <a:bodyPr/>
                    <a:lstStyle/>
                    <a:p>
                      <a:r>
                        <a:rPr lang="en-US" dirty="0"/>
                        <a:t>International Journal of Innovative research in Applied Sciences and Engineering (IJIRASE)</a:t>
                      </a:r>
                    </a:p>
                  </a:txBody>
                  <a:tcPr/>
                </a:tc>
                <a:tc>
                  <a:txBody>
                    <a:bodyPr/>
                    <a:lstStyle/>
                    <a:p>
                      <a:r>
                        <a:rPr lang="en-US" dirty="0"/>
                        <a:t>KNN algorithm and K-fold methods are used which are simple and suitable for small data and easy to understand and implement.</a:t>
                      </a:r>
                    </a:p>
                  </a:txBody>
                  <a:tcPr/>
                </a:tc>
                <a:tc>
                  <a:txBody>
                    <a:bodyPr/>
                    <a:lstStyle/>
                    <a:p>
                      <a:r>
                        <a:rPr lang="en-US" dirty="0"/>
                        <a:t>The proposed model gets the best results only after cross validation. </a:t>
                      </a:r>
                    </a:p>
                  </a:txBody>
                  <a:tcPr/>
                </a:tc>
                <a:extLst>
                  <a:ext uri="{0D108BD9-81ED-4DB2-BD59-A6C34878D82A}">
                    <a16:rowId xmlns:a16="http://schemas.microsoft.com/office/drawing/2014/main" val="1468419853"/>
                  </a:ext>
                </a:extLst>
              </a:tr>
            </a:tbl>
          </a:graphicData>
        </a:graphic>
      </p:graphicFrame>
    </p:spTree>
    <p:extLst>
      <p:ext uri="{BB962C8B-B14F-4D97-AF65-F5344CB8AC3E}">
        <p14:creationId xmlns:p14="http://schemas.microsoft.com/office/powerpoint/2010/main" val="1005675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03CE-BAFF-D07C-08C5-6B303A42E1DD}"/>
              </a:ext>
            </a:extLst>
          </p:cNvPr>
          <p:cNvSpPr>
            <a:spLocks noGrp="1"/>
          </p:cNvSpPr>
          <p:nvPr>
            <p:ph type="title"/>
          </p:nvPr>
        </p:nvSpPr>
        <p:spPr/>
        <p:txBody>
          <a:bodyPr/>
          <a:lstStyle/>
          <a:p>
            <a:pPr marL="76200" marR="0" lvl="0" rtl="0">
              <a:lnSpc>
                <a:spcPct val="100000"/>
              </a:lnSpc>
              <a:spcBef>
                <a:spcPts val="0"/>
              </a:spcBef>
              <a:spcAft>
                <a:spcPts val="0"/>
              </a:spcAft>
              <a:buClr>
                <a:schemeClr val="accent1"/>
              </a:buClr>
              <a:buSzPts val="2400"/>
            </a:pPr>
            <a:r>
              <a:rPr lang="en-US" sz="3200" dirty="0">
                <a:solidFill>
                  <a:schemeClr val="tx1"/>
                </a:solidFill>
                <a:latin typeface="Calibri"/>
                <a:ea typeface="Calibri"/>
                <a:cs typeface="Calibri"/>
                <a:sym typeface="Calibri"/>
              </a:rPr>
              <a:t>Proposed Approach</a:t>
            </a:r>
            <a:br>
              <a:rPr lang="en-US" sz="3200" b="0" i="0" u="none" strike="noStrike" cap="none" dirty="0">
                <a:solidFill>
                  <a:schemeClr val="accent4"/>
                </a:solidFill>
                <a:latin typeface="Calibri"/>
                <a:ea typeface="Calibri"/>
                <a:cs typeface="Calibri"/>
                <a:sym typeface="Calibri"/>
              </a:rPr>
            </a:br>
            <a:br>
              <a:rPr lang="en-US" sz="3200" dirty="0">
                <a:solidFill>
                  <a:schemeClr val="accent4"/>
                </a:solidFill>
                <a:latin typeface="Calibri"/>
                <a:ea typeface="Calibri"/>
                <a:cs typeface="Calibri"/>
                <a:sym typeface="Calibri"/>
              </a:rPr>
            </a:br>
            <a:r>
              <a:rPr lang="en-US" sz="3200" dirty="0">
                <a:solidFill>
                  <a:schemeClr val="accent4"/>
                </a:solidFill>
                <a:latin typeface="Calibri"/>
                <a:ea typeface="Calibri"/>
                <a:cs typeface="Calibri"/>
                <a:sym typeface="Calibri"/>
              </a:rPr>
              <a:t>This project uses train and test model to split the selected data base into train and test data to estimate the performance. Further by using test set we determine if the model is underfitting or overfitting the data. After this the split data is fed into Linear and Lasso regression model to compare the error percentage or the accuracy score. Now we have trained linear and Lasso regression model to which the new data can be fed and the car price can be predicted.</a:t>
            </a:r>
            <a:br>
              <a:rPr lang="en-US" sz="3200" dirty="0">
                <a:solidFill>
                  <a:schemeClr val="accent4"/>
                </a:solidFill>
                <a:latin typeface="Calibri"/>
                <a:ea typeface="Calibri"/>
                <a:cs typeface="Calibri"/>
                <a:sym typeface="Calibri"/>
              </a:rPr>
            </a:br>
            <a:endParaRPr lang="en-US" sz="3200" dirty="0">
              <a:solidFill>
                <a:schemeClr val="accent4"/>
              </a:solidFill>
            </a:endParaRPr>
          </a:p>
        </p:txBody>
      </p:sp>
      <p:sp>
        <p:nvSpPr>
          <p:cNvPr id="7" name="Google Shape;189;p43">
            <a:extLst>
              <a:ext uri="{FF2B5EF4-FFF2-40B4-BE49-F238E27FC236}">
                <a16:creationId xmlns:a16="http://schemas.microsoft.com/office/drawing/2014/main" id="{C1C872AA-9902-21D1-AC6D-9F9897FE8269}"/>
              </a:ext>
            </a:extLst>
          </p:cNvPr>
          <p:cNvSpPr/>
          <p:nvPr/>
        </p:nvSpPr>
        <p:spPr>
          <a:xfrm flipV="1">
            <a:off x="980388" y="1622824"/>
            <a:ext cx="10105534" cy="45719"/>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9583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40D6-4D09-C614-259B-A50E7CE217C5}"/>
              </a:ext>
            </a:extLst>
          </p:cNvPr>
          <p:cNvSpPr>
            <a:spLocks noGrp="1"/>
          </p:cNvSpPr>
          <p:nvPr>
            <p:ph type="title"/>
          </p:nvPr>
        </p:nvSpPr>
        <p:spPr/>
        <p:txBody>
          <a:bodyPr/>
          <a:lstStyle/>
          <a:p>
            <a:r>
              <a:rPr lang="en-US" sz="4400" b="0" i="0" u="none" strike="noStrike" cap="none" dirty="0">
                <a:solidFill>
                  <a:schemeClr val="tx1"/>
                </a:solidFill>
                <a:latin typeface="Calibri"/>
                <a:ea typeface="Calibri"/>
                <a:cs typeface="Calibri"/>
                <a:sym typeface="Calibri"/>
              </a:rPr>
              <a:t>Results and Discussion</a:t>
            </a:r>
            <a:br>
              <a:rPr lang="en-US" sz="2800" b="0" i="0" u="none" strike="noStrike" cap="none" dirty="0">
                <a:solidFill>
                  <a:schemeClr val="accent1"/>
                </a:solidFill>
                <a:latin typeface="Calibri"/>
                <a:ea typeface="Calibri"/>
                <a:cs typeface="Calibri"/>
                <a:sym typeface="Calibri"/>
              </a:rPr>
            </a:br>
            <a:endParaRPr lang="en-US" dirty="0"/>
          </a:p>
        </p:txBody>
      </p:sp>
      <p:sp>
        <p:nvSpPr>
          <p:cNvPr id="4" name="TextBox 3">
            <a:extLst>
              <a:ext uri="{FF2B5EF4-FFF2-40B4-BE49-F238E27FC236}">
                <a16:creationId xmlns:a16="http://schemas.microsoft.com/office/drawing/2014/main" id="{090180CB-34F0-C0DB-1750-23B9D57ACC20}"/>
              </a:ext>
            </a:extLst>
          </p:cNvPr>
          <p:cNvSpPr txBox="1"/>
          <p:nvPr/>
        </p:nvSpPr>
        <p:spPr>
          <a:xfrm>
            <a:off x="1175158" y="975117"/>
            <a:ext cx="9841584" cy="5016758"/>
          </a:xfrm>
          <a:prstGeom prst="rect">
            <a:avLst/>
          </a:prstGeom>
          <a:noFill/>
        </p:spPr>
        <p:txBody>
          <a:bodyPr wrap="square">
            <a:spAutoFit/>
          </a:bodyPr>
          <a:lstStyle/>
          <a:p>
            <a:pPr marL="76200" marR="0" lvl="0" rtl="0">
              <a:lnSpc>
                <a:spcPct val="100000"/>
              </a:lnSpc>
              <a:spcBef>
                <a:spcPts val="0"/>
              </a:spcBef>
              <a:spcAft>
                <a:spcPts val="0"/>
              </a:spcAft>
              <a:buClr>
                <a:schemeClr val="accent1"/>
              </a:buClr>
              <a:buSzPts val="2400"/>
            </a:pPr>
            <a:endParaRPr lang="en-US" sz="3200" dirty="0">
              <a:solidFill>
                <a:schemeClr val="accent4"/>
              </a:solidFill>
              <a:latin typeface="Calibri"/>
              <a:ea typeface="Calibri"/>
              <a:cs typeface="Calibri"/>
              <a:sym typeface="Calibri"/>
            </a:endParaRPr>
          </a:p>
          <a:p>
            <a:pPr marL="76200" marR="0" lvl="0" rtl="0">
              <a:lnSpc>
                <a:spcPct val="100000"/>
              </a:lnSpc>
              <a:spcBef>
                <a:spcPts val="0"/>
              </a:spcBef>
              <a:spcAft>
                <a:spcPts val="0"/>
              </a:spcAft>
              <a:buClr>
                <a:schemeClr val="accent1"/>
              </a:buClr>
              <a:buSzPts val="2400"/>
            </a:pPr>
            <a:r>
              <a:rPr lang="en-US" sz="3200" dirty="0">
                <a:solidFill>
                  <a:schemeClr val="accent4"/>
                </a:solidFill>
                <a:latin typeface="Calibri"/>
                <a:ea typeface="Calibri"/>
                <a:cs typeface="Calibri"/>
                <a:sym typeface="Calibri"/>
              </a:rPr>
              <a:t>Using Train test split and Linear and lasso models, this project proposed a scalable framework for used cars price prediction. Dataset is collected from Kaggle website. This was performed in real-time within the Google </a:t>
            </a:r>
            <a:r>
              <a:rPr lang="en-US" sz="3200" dirty="0" err="1">
                <a:solidFill>
                  <a:schemeClr val="accent4"/>
                </a:solidFill>
                <a:latin typeface="Calibri"/>
                <a:ea typeface="Calibri"/>
                <a:cs typeface="Calibri"/>
                <a:sym typeface="Calibri"/>
              </a:rPr>
              <a:t>Colab</a:t>
            </a:r>
            <a:r>
              <a:rPr lang="en-US" sz="3200" dirty="0">
                <a:solidFill>
                  <a:schemeClr val="accent4"/>
                </a:solidFill>
                <a:latin typeface="Calibri"/>
                <a:ea typeface="Calibri"/>
                <a:cs typeface="Calibri"/>
                <a:sym typeface="Calibri"/>
              </a:rPr>
              <a:t> environment using Python language (Libraries used: Pandas, Matplotlib and Seaborn). In comparison to the system’s integrated </a:t>
            </a:r>
            <a:r>
              <a:rPr lang="en-US" sz="3200" dirty="0" err="1">
                <a:solidFill>
                  <a:schemeClr val="accent4"/>
                </a:solidFill>
                <a:latin typeface="Calibri"/>
                <a:ea typeface="Calibri"/>
                <a:cs typeface="Calibri"/>
                <a:sym typeface="Calibri"/>
              </a:rPr>
              <a:t>Jupyter</a:t>
            </a:r>
            <a:r>
              <a:rPr lang="en-US" sz="3200" dirty="0">
                <a:solidFill>
                  <a:schemeClr val="accent4"/>
                </a:solidFill>
                <a:latin typeface="Calibri"/>
                <a:ea typeface="Calibri"/>
                <a:cs typeface="Calibri"/>
                <a:sym typeface="Calibri"/>
              </a:rPr>
              <a:t> notebook and Anaconda’s platform, algorithms took less training time in Google </a:t>
            </a:r>
            <a:r>
              <a:rPr lang="en-US" sz="3200" dirty="0" err="1">
                <a:solidFill>
                  <a:schemeClr val="accent4"/>
                </a:solidFill>
                <a:latin typeface="Calibri"/>
                <a:ea typeface="Calibri"/>
                <a:cs typeface="Calibri"/>
                <a:sym typeface="Calibri"/>
              </a:rPr>
              <a:t>Colab</a:t>
            </a:r>
            <a:r>
              <a:rPr lang="en-US" sz="3200" dirty="0">
                <a:solidFill>
                  <a:schemeClr val="accent4"/>
                </a:solidFill>
                <a:latin typeface="Calibri"/>
                <a:ea typeface="Calibri"/>
                <a:cs typeface="Calibri"/>
                <a:sym typeface="Calibri"/>
              </a:rPr>
              <a:t>. </a:t>
            </a:r>
          </a:p>
        </p:txBody>
      </p:sp>
      <p:sp>
        <p:nvSpPr>
          <p:cNvPr id="5" name="Google Shape;189;p43">
            <a:extLst>
              <a:ext uri="{FF2B5EF4-FFF2-40B4-BE49-F238E27FC236}">
                <a16:creationId xmlns:a16="http://schemas.microsoft.com/office/drawing/2014/main" id="{A1A137DA-13F9-3697-4D2F-76D74FE6BACC}"/>
              </a:ext>
            </a:extLst>
          </p:cNvPr>
          <p:cNvSpPr/>
          <p:nvPr/>
        </p:nvSpPr>
        <p:spPr>
          <a:xfrm>
            <a:off x="1033806" y="1468254"/>
            <a:ext cx="9841584" cy="45719"/>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59920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69B01-8246-32C9-BEE7-B673A3263A38}"/>
              </a:ext>
            </a:extLst>
          </p:cNvPr>
          <p:cNvSpPr>
            <a:spLocks noGrp="1"/>
          </p:cNvSpPr>
          <p:nvPr>
            <p:ph type="title"/>
          </p:nvPr>
        </p:nvSpPr>
        <p:spPr/>
        <p:txBody>
          <a:bodyPr/>
          <a:lstStyle/>
          <a:p>
            <a:r>
              <a:rPr lang="en-US" sz="4400" b="0" i="0" u="none" strike="noStrike" cap="none" dirty="0" err="1">
                <a:solidFill>
                  <a:schemeClr val="tx1"/>
                </a:solidFill>
                <a:latin typeface="Calibri"/>
                <a:ea typeface="Calibri"/>
                <a:cs typeface="Calibri"/>
                <a:sym typeface="Calibri"/>
              </a:rPr>
              <a:t>Refrences</a:t>
            </a:r>
            <a:endParaRPr lang="en-US" dirty="0">
              <a:solidFill>
                <a:schemeClr val="tx1"/>
              </a:solidFill>
            </a:endParaRPr>
          </a:p>
        </p:txBody>
      </p:sp>
      <p:sp>
        <p:nvSpPr>
          <p:cNvPr id="5" name="TextBox 4">
            <a:extLst>
              <a:ext uri="{FF2B5EF4-FFF2-40B4-BE49-F238E27FC236}">
                <a16:creationId xmlns:a16="http://schemas.microsoft.com/office/drawing/2014/main" id="{ADD93949-A9EC-7783-A6EA-22A39E930C1D}"/>
              </a:ext>
            </a:extLst>
          </p:cNvPr>
          <p:cNvSpPr txBox="1"/>
          <p:nvPr/>
        </p:nvSpPr>
        <p:spPr>
          <a:xfrm>
            <a:off x="1132737" y="1356867"/>
            <a:ext cx="9926425" cy="4801314"/>
          </a:xfrm>
          <a:prstGeom prst="rect">
            <a:avLst/>
          </a:prstGeom>
          <a:noFill/>
        </p:spPr>
        <p:txBody>
          <a:bodyPr wrap="square">
            <a:spAutoFit/>
          </a:bodyPr>
          <a:lstStyle/>
          <a:p>
            <a:pPr marL="457200" marR="0" lvl="0" indent="-381000" algn="just" rtl="0">
              <a:lnSpc>
                <a:spcPct val="100000"/>
              </a:lnSpc>
              <a:spcBef>
                <a:spcPts val="0"/>
              </a:spcBef>
              <a:spcAft>
                <a:spcPts val="0"/>
              </a:spcAft>
              <a:buClr>
                <a:schemeClr val="accent1"/>
              </a:buClr>
              <a:buSzPts val="2400"/>
              <a:buFont typeface="Calibri"/>
              <a:buChar char="●"/>
            </a:pPr>
            <a:endParaRPr lang="en-IN" dirty="0">
              <a:solidFill>
                <a:schemeClr val="accent4"/>
              </a:solidFill>
            </a:endParaRPr>
          </a:p>
          <a:p>
            <a:pPr marL="457200" marR="0" lvl="0" indent="-381000" algn="just" rtl="0">
              <a:lnSpc>
                <a:spcPct val="100000"/>
              </a:lnSpc>
              <a:spcBef>
                <a:spcPts val="0"/>
              </a:spcBef>
              <a:spcAft>
                <a:spcPts val="0"/>
              </a:spcAft>
              <a:buClr>
                <a:schemeClr val="accent1"/>
              </a:buClr>
              <a:buSzPts val="2400"/>
              <a:buFont typeface="Calibri"/>
              <a:buChar char="●"/>
            </a:pPr>
            <a:endParaRPr lang="en-IN" dirty="0">
              <a:solidFill>
                <a:schemeClr val="accent4"/>
              </a:solidFill>
            </a:endParaRPr>
          </a:p>
          <a:p>
            <a:pPr marL="457200" marR="0" lvl="0" indent="-381000" algn="just" rtl="0">
              <a:lnSpc>
                <a:spcPct val="100000"/>
              </a:lnSpc>
              <a:spcBef>
                <a:spcPts val="0"/>
              </a:spcBef>
              <a:spcAft>
                <a:spcPts val="0"/>
              </a:spcAft>
              <a:buClr>
                <a:schemeClr val="accent1"/>
              </a:buClr>
              <a:buSzPts val="2400"/>
              <a:buFont typeface="Calibri"/>
              <a:buChar char="●"/>
            </a:pPr>
            <a:r>
              <a:rPr lang="en-IN" dirty="0" err="1">
                <a:solidFill>
                  <a:schemeClr val="accent4"/>
                </a:solidFill>
              </a:rPr>
              <a:t>Enis</a:t>
            </a:r>
            <a:r>
              <a:rPr lang="en-IN" dirty="0">
                <a:solidFill>
                  <a:schemeClr val="accent4"/>
                </a:solidFill>
              </a:rPr>
              <a:t> </a:t>
            </a:r>
            <a:r>
              <a:rPr lang="en-IN" dirty="0" err="1">
                <a:solidFill>
                  <a:schemeClr val="accent4"/>
                </a:solidFill>
              </a:rPr>
              <a:t>Gegic</a:t>
            </a:r>
            <a:r>
              <a:rPr lang="en-IN" dirty="0">
                <a:solidFill>
                  <a:schemeClr val="accent4"/>
                </a:solidFill>
              </a:rPr>
              <a:t>, </a:t>
            </a:r>
            <a:r>
              <a:rPr lang="en-IN" dirty="0" err="1">
                <a:solidFill>
                  <a:schemeClr val="accent4"/>
                </a:solidFill>
              </a:rPr>
              <a:t>Becir</a:t>
            </a:r>
            <a:r>
              <a:rPr lang="en-IN" dirty="0">
                <a:solidFill>
                  <a:schemeClr val="accent4"/>
                </a:solidFill>
              </a:rPr>
              <a:t> </a:t>
            </a:r>
            <a:r>
              <a:rPr lang="en-IN" dirty="0" err="1">
                <a:solidFill>
                  <a:schemeClr val="accent4"/>
                </a:solidFill>
              </a:rPr>
              <a:t>Isakovic</a:t>
            </a:r>
            <a:r>
              <a:rPr lang="en-IN" dirty="0">
                <a:solidFill>
                  <a:schemeClr val="accent4"/>
                </a:solidFill>
              </a:rPr>
              <a:t>, Dino </a:t>
            </a:r>
            <a:r>
              <a:rPr lang="en-IN" dirty="0" err="1">
                <a:solidFill>
                  <a:schemeClr val="accent4"/>
                </a:solidFill>
              </a:rPr>
              <a:t>Keco</a:t>
            </a:r>
            <a:r>
              <a:rPr lang="en-IN" dirty="0">
                <a:solidFill>
                  <a:schemeClr val="accent4"/>
                </a:solidFill>
              </a:rPr>
              <a:t>, </a:t>
            </a:r>
            <a:r>
              <a:rPr lang="en-IN" dirty="0" err="1">
                <a:solidFill>
                  <a:schemeClr val="accent4"/>
                </a:solidFill>
              </a:rPr>
              <a:t>Zerina</a:t>
            </a:r>
            <a:r>
              <a:rPr lang="en-IN" dirty="0">
                <a:solidFill>
                  <a:schemeClr val="accent4"/>
                </a:solidFill>
              </a:rPr>
              <a:t> </a:t>
            </a:r>
            <a:r>
              <a:rPr lang="en-IN" dirty="0" err="1">
                <a:solidFill>
                  <a:schemeClr val="accent4"/>
                </a:solidFill>
              </a:rPr>
              <a:t>Masetic</a:t>
            </a:r>
            <a:r>
              <a:rPr lang="en-IN" dirty="0">
                <a:solidFill>
                  <a:schemeClr val="accent4"/>
                </a:solidFill>
              </a:rPr>
              <a:t>, Jasmin </a:t>
            </a:r>
            <a:r>
              <a:rPr lang="en-IN" dirty="0" err="1">
                <a:solidFill>
                  <a:schemeClr val="accent4"/>
                </a:solidFill>
              </a:rPr>
              <a:t>Kevric</a:t>
            </a:r>
            <a:r>
              <a:rPr lang="en-IN" dirty="0">
                <a:solidFill>
                  <a:schemeClr val="accent4"/>
                </a:solidFill>
              </a:rPr>
              <a:t> International Burch University, Sarajevo, Bosnia and Herzegovina. TEM Journal. Volume 8, Issue 1, Pages 113- 118, ISSN 2217-8309, DOI: 10.18421/TEM81-16, February 2019.</a:t>
            </a:r>
          </a:p>
          <a:p>
            <a:pPr marL="457200" marR="0" lvl="0" indent="-381000" algn="just" rtl="0">
              <a:lnSpc>
                <a:spcPct val="100000"/>
              </a:lnSpc>
              <a:spcBef>
                <a:spcPts val="0"/>
              </a:spcBef>
              <a:spcAft>
                <a:spcPts val="0"/>
              </a:spcAft>
              <a:buClr>
                <a:schemeClr val="accent1"/>
              </a:buClr>
              <a:buSzPts val="2400"/>
              <a:buFont typeface="Calibri"/>
              <a:buChar char="●"/>
            </a:pPr>
            <a:r>
              <a:rPr lang="en-IN" dirty="0">
                <a:solidFill>
                  <a:schemeClr val="accent4"/>
                </a:solidFill>
              </a:rPr>
              <a:t>International Journal of Engineering and Advanced Technology (IJEAT) ISSN: 2249 – 8958, Volume-9 Issue-1S3, December 2019, </a:t>
            </a:r>
            <a:r>
              <a:rPr lang="en-IN" dirty="0" err="1">
                <a:solidFill>
                  <a:schemeClr val="accent4"/>
                </a:solidFill>
              </a:rPr>
              <a:t>Pattabiraman</a:t>
            </a:r>
            <a:r>
              <a:rPr lang="en-IN" dirty="0">
                <a:solidFill>
                  <a:schemeClr val="accent4"/>
                </a:solidFill>
              </a:rPr>
              <a:t> </a:t>
            </a:r>
            <a:r>
              <a:rPr lang="en-IN" dirty="0" err="1">
                <a:solidFill>
                  <a:schemeClr val="accent4"/>
                </a:solidFill>
              </a:rPr>
              <a:t>Venkatasubbu</a:t>
            </a:r>
            <a:r>
              <a:rPr lang="en-IN" dirty="0">
                <a:solidFill>
                  <a:schemeClr val="accent4"/>
                </a:solidFill>
              </a:rPr>
              <a:t>, </a:t>
            </a:r>
            <a:r>
              <a:rPr lang="en-IN" dirty="0" err="1">
                <a:solidFill>
                  <a:schemeClr val="accent4"/>
                </a:solidFill>
              </a:rPr>
              <a:t>Mukkesh</a:t>
            </a:r>
            <a:r>
              <a:rPr lang="en-IN" dirty="0">
                <a:solidFill>
                  <a:schemeClr val="accent4"/>
                </a:solidFill>
              </a:rPr>
              <a:t> Ganesh</a:t>
            </a:r>
          </a:p>
          <a:p>
            <a:pPr marL="457200" marR="0" lvl="0" indent="-381000" algn="just" rtl="0">
              <a:lnSpc>
                <a:spcPct val="100000"/>
              </a:lnSpc>
              <a:spcBef>
                <a:spcPts val="0"/>
              </a:spcBef>
              <a:spcAft>
                <a:spcPts val="0"/>
              </a:spcAft>
              <a:buClr>
                <a:schemeClr val="accent1"/>
              </a:buClr>
              <a:buSzPts val="2400"/>
              <a:buFont typeface="Calibri"/>
              <a:buChar char="●"/>
            </a:pPr>
            <a:r>
              <a:rPr lang="en-IN" dirty="0">
                <a:solidFill>
                  <a:schemeClr val="accent4"/>
                </a:solidFill>
              </a:rPr>
              <a:t>e-ISSN: 2582-5208 International Research Journal of Modernization in Engineering Technology and Science Volume:03/Issue:03/March-2021 Impact Factor- 5.354</a:t>
            </a:r>
          </a:p>
          <a:p>
            <a:pPr marL="457200" marR="0" lvl="0" indent="-381000" algn="just" rtl="0">
              <a:lnSpc>
                <a:spcPct val="100000"/>
              </a:lnSpc>
              <a:spcBef>
                <a:spcPts val="0"/>
              </a:spcBef>
              <a:spcAft>
                <a:spcPts val="0"/>
              </a:spcAft>
              <a:buClr>
                <a:schemeClr val="accent1"/>
              </a:buClr>
              <a:buSzPts val="2400"/>
              <a:buFont typeface="Calibri"/>
              <a:buChar char="●"/>
            </a:pPr>
            <a:r>
              <a:rPr lang="en-IN" dirty="0">
                <a:solidFill>
                  <a:schemeClr val="accent4"/>
                </a:solidFill>
              </a:rPr>
              <a:t>Journal of Emerging Technologies and Innovative Research (JETIR) ISSN: 2349-5162, ESTD Year: 2014, JETIR April 2022, Volume 9, Issue 4 Mrs. T Veda Reddy, Y </a:t>
            </a:r>
            <a:r>
              <a:rPr lang="en-IN" dirty="0" err="1">
                <a:solidFill>
                  <a:schemeClr val="accent4"/>
                </a:solidFill>
              </a:rPr>
              <a:t>Praneeth</a:t>
            </a:r>
            <a:r>
              <a:rPr lang="en-IN" dirty="0">
                <a:solidFill>
                  <a:schemeClr val="accent4"/>
                </a:solidFill>
              </a:rPr>
              <a:t>, Y Sai Kiran, G Sai Pavan</a:t>
            </a:r>
          </a:p>
          <a:p>
            <a:pPr marL="457200" marR="0" lvl="0" indent="-381000" algn="just" rtl="0">
              <a:lnSpc>
                <a:spcPct val="100000"/>
              </a:lnSpc>
              <a:spcBef>
                <a:spcPts val="0"/>
              </a:spcBef>
              <a:spcAft>
                <a:spcPts val="0"/>
              </a:spcAft>
              <a:buClr>
                <a:schemeClr val="accent1"/>
              </a:buClr>
              <a:buSzPts val="2400"/>
              <a:buFont typeface="Calibri"/>
              <a:buChar char="●"/>
            </a:pPr>
            <a:r>
              <a:rPr lang="en-IN" dirty="0" err="1">
                <a:solidFill>
                  <a:schemeClr val="accent4"/>
                </a:solidFill>
              </a:rPr>
              <a:t>Ijraset</a:t>
            </a:r>
            <a:r>
              <a:rPr lang="en-IN" dirty="0">
                <a:solidFill>
                  <a:schemeClr val="accent4"/>
                </a:solidFill>
              </a:rPr>
              <a:t> Journal for Research in Applied Science and Engineering Technology, ISSN: 2321- 9653, ESTD:2013, Paper Id : IJRASET44225, Publish Date : 2022-06-13, </a:t>
            </a:r>
            <a:r>
              <a:rPr lang="en-IN" dirty="0" err="1">
                <a:solidFill>
                  <a:schemeClr val="accent4"/>
                </a:solidFill>
              </a:rPr>
              <a:t>Rithvik</a:t>
            </a:r>
            <a:r>
              <a:rPr lang="en-IN" dirty="0">
                <a:solidFill>
                  <a:schemeClr val="accent4"/>
                </a:solidFill>
              </a:rPr>
              <a:t> Raj </a:t>
            </a:r>
            <a:r>
              <a:rPr lang="en-IN" dirty="0" err="1">
                <a:solidFill>
                  <a:schemeClr val="accent4"/>
                </a:solidFill>
              </a:rPr>
              <a:t>Mekala</a:t>
            </a:r>
            <a:r>
              <a:rPr lang="en-IN" dirty="0">
                <a:solidFill>
                  <a:schemeClr val="accent4"/>
                </a:solidFill>
              </a:rPr>
              <a:t>, </a:t>
            </a:r>
            <a:r>
              <a:rPr lang="en-IN" dirty="0" err="1">
                <a:solidFill>
                  <a:schemeClr val="accent4"/>
                </a:solidFill>
              </a:rPr>
              <a:t>Gouru</a:t>
            </a:r>
            <a:r>
              <a:rPr lang="en-IN" dirty="0">
                <a:solidFill>
                  <a:schemeClr val="accent4"/>
                </a:solidFill>
              </a:rPr>
              <a:t> Laxmi </a:t>
            </a:r>
            <a:r>
              <a:rPr lang="en-IN" dirty="0" err="1">
                <a:solidFill>
                  <a:schemeClr val="accent4"/>
                </a:solidFill>
              </a:rPr>
              <a:t>Sevitha</a:t>
            </a:r>
            <a:r>
              <a:rPr lang="en-IN" dirty="0">
                <a:solidFill>
                  <a:schemeClr val="accent4"/>
                </a:solidFill>
              </a:rPr>
              <a:t>, Tushar </a:t>
            </a:r>
            <a:r>
              <a:rPr lang="en-IN" dirty="0" err="1">
                <a:solidFill>
                  <a:schemeClr val="accent4"/>
                </a:solidFill>
              </a:rPr>
              <a:t>Anumula</a:t>
            </a:r>
            <a:r>
              <a:rPr lang="en-IN" dirty="0">
                <a:solidFill>
                  <a:schemeClr val="accent4"/>
                </a:solidFill>
              </a:rPr>
              <a:t>, Kusuma </a:t>
            </a:r>
            <a:r>
              <a:rPr lang="en-IN" dirty="0" err="1">
                <a:solidFill>
                  <a:schemeClr val="accent4"/>
                </a:solidFill>
              </a:rPr>
              <a:t>Latha</a:t>
            </a:r>
            <a:endParaRPr lang="en-IN" dirty="0">
              <a:solidFill>
                <a:schemeClr val="accent4"/>
              </a:solidFill>
            </a:endParaRPr>
          </a:p>
          <a:p>
            <a:pPr marL="457200" marR="0" lvl="0" indent="-381000" algn="just" rtl="0">
              <a:lnSpc>
                <a:spcPct val="100000"/>
              </a:lnSpc>
              <a:spcBef>
                <a:spcPts val="0"/>
              </a:spcBef>
              <a:spcAft>
                <a:spcPts val="0"/>
              </a:spcAft>
              <a:buClr>
                <a:schemeClr val="accent1"/>
              </a:buClr>
              <a:buSzPts val="2400"/>
              <a:buFont typeface="Calibri"/>
              <a:buChar char="●"/>
            </a:pPr>
            <a:r>
              <a:rPr lang="en-IN" dirty="0">
                <a:solidFill>
                  <a:schemeClr val="accent4"/>
                </a:solidFill>
              </a:rPr>
              <a:t>International Journal of Innovative Research in Applied Sciences and Engineering (IJIRASE) Volume 4, Issue 2, DOI: 10.29027/IJIRASE.v4.i2.2020.629-320</a:t>
            </a:r>
          </a:p>
          <a:p>
            <a:pPr marL="457200" marR="0" lvl="0" indent="-381000" algn="just" rtl="0">
              <a:lnSpc>
                <a:spcPct val="100000"/>
              </a:lnSpc>
              <a:spcBef>
                <a:spcPts val="0"/>
              </a:spcBef>
              <a:spcAft>
                <a:spcPts val="0"/>
              </a:spcAft>
              <a:buClr>
                <a:schemeClr val="accent1"/>
              </a:buClr>
              <a:buSzPts val="2400"/>
              <a:buFont typeface="Calibri"/>
              <a:buChar char="●"/>
            </a:pPr>
            <a:r>
              <a:rPr lang="en-US" dirty="0">
                <a:solidFill>
                  <a:schemeClr val="accent4"/>
                </a:solidFill>
                <a:latin typeface="Calibri"/>
                <a:ea typeface="Calibri"/>
                <a:cs typeface="Calibri"/>
                <a:sym typeface="Calibri"/>
              </a:rPr>
              <a:t>https://www.kaggle.com/datasets/nehalbirla/vehicle-dataset-from-cardekho</a:t>
            </a:r>
          </a:p>
        </p:txBody>
      </p:sp>
      <p:sp>
        <p:nvSpPr>
          <p:cNvPr id="6" name="Google Shape;189;p43">
            <a:extLst>
              <a:ext uri="{FF2B5EF4-FFF2-40B4-BE49-F238E27FC236}">
                <a16:creationId xmlns:a16="http://schemas.microsoft.com/office/drawing/2014/main" id="{1B41D8E5-DDB0-A8FF-B2A3-DC49E36A2730}"/>
              </a:ext>
            </a:extLst>
          </p:cNvPr>
          <p:cNvSpPr/>
          <p:nvPr/>
        </p:nvSpPr>
        <p:spPr>
          <a:xfrm>
            <a:off x="1395167" y="1581155"/>
            <a:ext cx="9663995" cy="59109"/>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47932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332;p59">
            <a:extLst>
              <a:ext uri="{FF2B5EF4-FFF2-40B4-BE49-F238E27FC236}">
                <a16:creationId xmlns:a16="http://schemas.microsoft.com/office/drawing/2014/main" id="{B8CCCE0B-88D4-29FC-C1BF-D18FD90FF7CE}"/>
              </a:ext>
            </a:extLst>
          </p:cNvPr>
          <p:cNvSpPr/>
          <p:nvPr/>
        </p:nvSpPr>
        <p:spPr>
          <a:xfrm>
            <a:off x="4371485" y="3352800"/>
            <a:ext cx="2506584" cy="707886"/>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4000"/>
              <a:buFont typeface="Arial"/>
              <a:buNone/>
            </a:pPr>
            <a:r>
              <a:rPr lang="en-US" sz="6600" b="0" i="0" u="none" strike="noStrike" cap="none" dirty="0">
                <a:solidFill>
                  <a:schemeClr val="accent4"/>
                </a:solidFill>
                <a:latin typeface="Trebuchet MS"/>
                <a:ea typeface="Trebuchet MS"/>
                <a:cs typeface="Trebuchet MS"/>
                <a:sym typeface="Trebuchet MS"/>
              </a:rPr>
              <a:t>Thank You</a:t>
            </a:r>
            <a:endParaRPr sz="6600" b="0" i="0" u="none" strike="noStrike" cap="none" dirty="0">
              <a:solidFill>
                <a:schemeClr val="accent4"/>
              </a:solidFill>
              <a:latin typeface="Arial"/>
              <a:ea typeface="Arial"/>
              <a:cs typeface="Arial"/>
              <a:sym typeface="Arial"/>
            </a:endParaRPr>
          </a:p>
        </p:txBody>
      </p:sp>
    </p:spTree>
    <p:extLst>
      <p:ext uri="{BB962C8B-B14F-4D97-AF65-F5344CB8AC3E}">
        <p14:creationId xmlns:p14="http://schemas.microsoft.com/office/powerpoint/2010/main" val="384042600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1218</TotalTime>
  <Words>1001</Words>
  <Application>Microsoft Office PowerPoint</Application>
  <PresentationFormat>Widescreen</PresentationFormat>
  <Paragraphs>85</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Garamond</vt:lpstr>
      <vt:lpstr>Trebuchet MS</vt:lpstr>
      <vt:lpstr>Calibri</vt:lpstr>
      <vt:lpstr>Organic</vt:lpstr>
      <vt:lpstr>Car Price Prediction</vt:lpstr>
      <vt:lpstr>PowerPoint Presentation</vt:lpstr>
      <vt:lpstr>PowerPoint Presentation</vt:lpstr>
      <vt:lpstr>High level Architecture    </vt:lpstr>
      <vt:lpstr>PowerPoint Presentation</vt:lpstr>
      <vt:lpstr>PowerPoint Presentation</vt:lpstr>
      <vt:lpstr>Proposed Approach  This project uses train and test model to split the selected data base into train and test data to estimate the performance. Further by using test set we determine if the model is underfitting or overfitting the data. After this the split data is fed into Linear and Lasso regression model to compare the error percentage or the accuracy score. Now we have trained linear and Lasso regression model to which the new data can be fed and the car price can be predicted. </vt:lpstr>
      <vt:lpstr>Results and Discussion </vt:lpstr>
      <vt:lpstr>Refrences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Kokila Paramanandam</dc:creator>
  <cp:lastModifiedBy>EC CSE 5H MEGHANA N</cp:lastModifiedBy>
  <cp:revision>11</cp:revision>
  <dcterms:modified xsi:type="dcterms:W3CDTF">2022-11-24T22:56:06Z</dcterms:modified>
</cp:coreProperties>
</file>